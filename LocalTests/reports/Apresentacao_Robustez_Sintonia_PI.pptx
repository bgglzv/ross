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0080625" cy="56705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5C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576" y="-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5C68"/>
                </a:solidFill>
                <a:latin typeface="Arial"/>
              </a:rPr>
              <a:t>01 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Sintonia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PI —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Objetivo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e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Condições</a:t>
            </a:r>
            <a:endParaRPr sz="2000" b="1" dirty="0">
              <a:solidFill>
                <a:srgbClr val="0E5C68"/>
              </a:solidFill>
              <a:latin typeface="Arial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60000" y="827999"/>
            <a:ext cx="936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 i="0" dirty="0" err="1">
                <a:solidFill>
                  <a:srgbClr val="5B6672"/>
                </a:solidFill>
                <a:latin typeface="Arial"/>
              </a:rPr>
              <a:t>Comparação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entre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acionamento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V/F e FOC (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cada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um com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sua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própria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sintonia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de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controlador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,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sem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reajuste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manual) sob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degrau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de carga,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em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dois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motores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de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porte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muito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 </a:t>
            </a:r>
            <a:r>
              <a:rPr sz="1400" b="0" i="0" dirty="0" err="1">
                <a:solidFill>
                  <a:srgbClr val="5B6672"/>
                </a:solidFill>
                <a:latin typeface="Arial"/>
              </a:rPr>
              <a:t>diferente</a:t>
            </a:r>
            <a:r>
              <a:rPr sz="1400" b="0" i="0" dirty="0">
                <a:solidFill>
                  <a:srgbClr val="5B6672"/>
                </a:solidFill>
                <a:latin typeface="Arial"/>
              </a:rPr>
              <a:t>.</a:t>
            </a:r>
          </a:p>
        </p:txBody>
      </p:sp>
      <p:pic>
        <p:nvPicPr>
          <p:cNvPr id="5" name="Picture 4" descr="diagram_malha_contro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1655999"/>
            <a:ext cx="9360000" cy="351214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5C68"/>
                </a:solidFill>
                <a:latin typeface="Arial"/>
              </a:rPr>
              <a:t>02 </a:t>
            </a:r>
            <a:r>
              <a:rPr sz="1100" dirty="0">
                <a:solidFill>
                  <a:srgbClr val="8A929B"/>
                </a:solidFill>
                <a:latin typeface="Consolas"/>
              </a:rPr>
              <a:t>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Ensaio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1 — Motor de Pequeno Porte —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Degrau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de Carga (60 Hz)</a:t>
            </a:r>
          </a:p>
        </p:txBody>
      </p:sp>
      <p:pic>
        <p:nvPicPr>
          <p:cNvPr id="4" name="Picture 3" descr="01_conjugados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792000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792000"/>
            <a:ext cx="4752000" cy="33942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51999" y="3671999"/>
          <a:ext cx="957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57"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Ensaio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Cenário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Tempo de acomodação (s)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Erro de regime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Sobressinal (%)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-3.827e-09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-92.45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0.1398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5.567e-05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-92.78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0.5829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0.002777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-135.6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-10.12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-5.371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-10.11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-5.363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5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0.1971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1.637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-10.96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89255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03  </a:t>
            </a:r>
            <a:r>
              <a:rPr dirty="0" err="1"/>
              <a:t>Ensaio</a:t>
            </a:r>
            <a:r>
              <a:rPr dirty="0"/>
              <a:t> 1 — Motor de Pequeno Porte </a:t>
            </a:r>
            <a:endParaRPr lang="pt-BR" dirty="0"/>
          </a:p>
          <a:p>
            <a:r>
              <a:rPr dirty="0"/>
              <a:t>— Zoom </a:t>
            </a:r>
            <a:r>
              <a:rPr dirty="0" err="1"/>
              <a:t>na</a:t>
            </a:r>
            <a:r>
              <a:rPr dirty="0"/>
              <a:t> Entrada da Carga (0.1 s antes / 0.2 s </a:t>
            </a:r>
            <a:r>
              <a:rPr dirty="0" err="1"/>
              <a:t>depois</a:t>
            </a:r>
            <a:r>
              <a:rPr dirty="0"/>
              <a:t>)</a:t>
            </a:r>
          </a:p>
        </p:txBody>
      </p:sp>
      <p:pic>
        <p:nvPicPr>
          <p:cNvPr id="4" name="Picture 3" descr="01_conjugados_temp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1164533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164533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5C68"/>
                </a:solidFill>
                <a:latin typeface="Arial"/>
              </a:rPr>
              <a:t>04</a:t>
            </a:r>
            <a:r>
              <a:rPr sz="2000" dirty="0">
                <a:solidFill>
                  <a:srgbClr val="8A929B"/>
                </a:solidFill>
                <a:latin typeface="Consolas"/>
              </a:rPr>
              <a:t> 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Ensaio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1 — Motor de Grande Porte —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Degrau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de Carga (60 Hz)</a:t>
            </a:r>
          </a:p>
        </p:txBody>
      </p:sp>
      <p:pic>
        <p:nvPicPr>
          <p:cNvPr id="4" name="Picture 3" descr="01_conjugados_temp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792000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792000"/>
            <a:ext cx="4752000" cy="3394286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7077118"/>
              </p:ext>
            </p:extLst>
          </p:nvPr>
        </p:nvGraphicFramePr>
        <p:xfrm>
          <a:off x="215999" y="3988287"/>
          <a:ext cx="957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46857"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Ensaio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Cenário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>
                          <a:latin typeface="Arial"/>
                        </a:rPr>
                        <a:t>Tempo de </a:t>
                      </a:r>
                      <a:r>
                        <a:rPr sz="900" b="1" dirty="0" err="1">
                          <a:latin typeface="Arial"/>
                        </a:rPr>
                        <a:t>acomodação</a:t>
                      </a:r>
                      <a:r>
                        <a:rPr sz="900" b="1" dirty="0">
                          <a:latin typeface="Arial"/>
                        </a:rPr>
                        <a:t> (s)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Erro de regime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latin typeface="Arial"/>
                        </a:rPr>
                        <a:t>Sobressinal (%)</a:t>
                      </a:r>
                    </a:p>
                  </a:txBody>
                  <a:tcPr>
                    <a:solidFill>
                      <a:srgbClr val="E3EE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0.4346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2.183e-11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-89.98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0.4342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0.1286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-89.99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5.26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0.01519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-250.6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Fonte CA (partida direta)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-0.9152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-2.271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6857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-0.9138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-2.267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6858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5.128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0.6984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dirty="0">
                          <a:latin typeface="Arial"/>
                        </a:rPr>
                        <a:t>-65.63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05  </a:t>
            </a:r>
            <a:r>
              <a:rPr dirty="0" err="1"/>
              <a:t>Ensaio</a:t>
            </a:r>
            <a:r>
              <a:rPr dirty="0"/>
              <a:t> 1 — Motor de Grande Porte </a:t>
            </a:r>
            <a:endParaRPr lang="pt-BR" dirty="0"/>
          </a:p>
          <a:p>
            <a:r>
              <a:rPr dirty="0"/>
              <a:t>— Zoom </a:t>
            </a:r>
            <a:r>
              <a:rPr dirty="0" err="1"/>
              <a:t>na</a:t>
            </a:r>
            <a:r>
              <a:rPr dirty="0"/>
              <a:t> Entrada da Carga (0.5 s antes / 1 s </a:t>
            </a:r>
            <a:r>
              <a:rPr dirty="0" err="1"/>
              <a:t>depois</a:t>
            </a:r>
            <a:r>
              <a:rPr dirty="0"/>
              <a:t>)</a:t>
            </a:r>
          </a:p>
        </p:txBody>
      </p:sp>
      <p:pic>
        <p:nvPicPr>
          <p:cNvPr id="4" name="Picture 3" descr="01_conjugados_temp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1393134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393134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06  </a:t>
            </a:r>
            <a:r>
              <a:rPr dirty="0" err="1"/>
              <a:t>Ensaio</a:t>
            </a:r>
            <a:r>
              <a:rPr dirty="0"/>
              <a:t> 2 — Motor de Pequeno Porte </a:t>
            </a:r>
            <a:endParaRPr lang="pt-BR" dirty="0"/>
          </a:p>
          <a:p>
            <a:r>
              <a:rPr dirty="0"/>
              <a:t>— </a:t>
            </a:r>
            <a:r>
              <a:rPr dirty="0" err="1"/>
              <a:t>Degrau</a:t>
            </a:r>
            <a:r>
              <a:rPr dirty="0"/>
              <a:t> de Carga a 50% da </a:t>
            </a:r>
            <a:r>
              <a:rPr dirty="0" err="1"/>
              <a:t>Velocidade</a:t>
            </a:r>
            <a:r>
              <a:rPr dirty="0"/>
              <a:t> (30 Hz)</a:t>
            </a:r>
          </a:p>
        </p:txBody>
      </p:sp>
      <p:pic>
        <p:nvPicPr>
          <p:cNvPr id="4" name="Picture 3" descr="01_conjugados_tempo.png"/>
          <p:cNvPicPr>
            <a:picLocks noChangeAspect="1"/>
          </p:cNvPicPr>
          <p:nvPr/>
        </p:nvPicPr>
        <p:blipFill>
          <a:blip r:embed="rId2"/>
          <a:srcRect t="4946"/>
          <a:stretch>
            <a:fillRect/>
          </a:stretch>
        </p:blipFill>
        <p:spPr>
          <a:xfrm>
            <a:off x="251999" y="959884"/>
            <a:ext cx="4752000" cy="3226401"/>
          </a:xfrm>
          <a:prstGeom prst="rect">
            <a:avLst/>
          </a:prstGeom>
        </p:spPr>
      </p:pic>
      <p:pic>
        <p:nvPicPr>
          <p:cNvPr id="5" name="Picture 4" descr="02_velocidade_tempo.png"/>
          <p:cNvPicPr>
            <a:picLocks noChangeAspect="1"/>
          </p:cNvPicPr>
          <p:nvPr/>
        </p:nvPicPr>
        <p:blipFill>
          <a:blip r:embed="rId3"/>
          <a:srcRect t="4946"/>
          <a:stretch>
            <a:fillRect/>
          </a:stretch>
        </p:blipFill>
        <p:spPr>
          <a:xfrm>
            <a:off x="5040312" y="959883"/>
            <a:ext cx="4752000" cy="3226402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2518780"/>
              </p:ext>
            </p:extLst>
          </p:nvPr>
        </p:nvGraphicFramePr>
        <p:xfrm>
          <a:off x="251999" y="3862287"/>
          <a:ext cx="957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600">
                <a:tc>
                  <a:txBody>
                    <a:bodyPr/>
                    <a:lstStyle/>
                    <a:p>
                      <a:r>
                        <a:rPr sz="900" b="1" dirty="0" err="1">
                          <a:latin typeface="Arial"/>
                        </a:rPr>
                        <a:t>Ensaio</a:t>
                      </a:r>
                      <a:endParaRPr sz="900" b="1" dirty="0">
                        <a:latin typeface="Arial"/>
                      </a:endParaRP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 err="1">
                          <a:latin typeface="Arial"/>
                        </a:rPr>
                        <a:t>Cenário</a:t>
                      </a:r>
                      <a:endParaRPr sz="900" b="1" dirty="0">
                        <a:latin typeface="Arial"/>
                      </a:endParaRP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Arial"/>
                        </a:rPr>
                        <a:t>Tempo de </a:t>
                      </a:r>
                      <a:r>
                        <a:rPr sz="900" b="1" dirty="0" err="1">
                          <a:latin typeface="Arial"/>
                        </a:rPr>
                        <a:t>acomodação</a:t>
                      </a:r>
                      <a:r>
                        <a:rPr sz="900" b="1" dirty="0">
                          <a:latin typeface="Arial"/>
                        </a:rPr>
                        <a:t> (s)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Arial"/>
                        </a:rPr>
                        <a:t>Erro de regime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latin typeface="Arial"/>
                        </a:rPr>
                        <a:t>Sobressinal</a:t>
                      </a:r>
                      <a:r>
                        <a:rPr sz="900" b="1" dirty="0">
                          <a:latin typeface="Arial"/>
                        </a:rPr>
                        <a:t> (%)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latin typeface="Arial"/>
                        </a:rPr>
                        <a:t>0.1753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0.002497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-93.83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0.02026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0.001049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-50.57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infinito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-12.23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-12.98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-0.007124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latin typeface="Arial"/>
                        </a:rPr>
                        <a:t>-0.05042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>
                <a:solidFill>
                  <a:srgbClr val="0E5C68"/>
                </a:solidFill>
                <a:latin typeface="Arial"/>
              </a:rPr>
              <a:t>07</a:t>
            </a:r>
            <a:r>
              <a:rPr sz="2000" dirty="0">
                <a:solidFill>
                  <a:srgbClr val="8A929B"/>
                </a:solidFill>
                <a:latin typeface="Consolas"/>
              </a:rPr>
              <a:t> 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Ensaio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2 — Motor de Pequeno Porte </a:t>
            </a:r>
            <a:endParaRPr lang="pt-BR" sz="2000" b="1" dirty="0">
              <a:solidFill>
                <a:srgbClr val="0E5C68"/>
              </a:solidFill>
              <a:latin typeface="Arial"/>
            </a:endParaRPr>
          </a:p>
          <a:p>
            <a:r>
              <a:rPr sz="2000" b="1" dirty="0">
                <a:solidFill>
                  <a:srgbClr val="0E5C68"/>
                </a:solidFill>
                <a:latin typeface="Arial"/>
              </a:rPr>
              <a:t>— Zoom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na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 Entrada da Carga (0.1 s antes / 0.2 s </a:t>
            </a:r>
            <a:r>
              <a:rPr sz="2000" b="1" dirty="0" err="1">
                <a:solidFill>
                  <a:srgbClr val="0E5C68"/>
                </a:solidFill>
                <a:latin typeface="Arial"/>
              </a:rPr>
              <a:t>depois</a:t>
            </a:r>
            <a:r>
              <a:rPr sz="2000" b="1" dirty="0">
                <a:solidFill>
                  <a:srgbClr val="0E5C68"/>
                </a:solidFill>
                <a:latin typeface="Arial"/>
              </a:rPr>
              <a:t>)</a:t>
            </a:r>
          </a:p>
        </p:txBody>
      </p:sp>
      <p:pic>
        <p:nvPicPr>
          <p:cNvPr id="4" name="Picture 3" descr="01_conjugados_temp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1283067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283067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08  </a:t>
            </a:r>
            <a:r>
              <a:rPr dirty="0" err="1"/>
              <a:t>Ensaio</a:t>
            </a:r>
            <a:r>
              <a:rPr dirty="0"/>
              <a:t> 2 — Motor de Grande Porte </a:t>
            </a:r>
            <a:endParaRPr lang="pt-BR" dirty="0"/>
          </a:p>
          <a:p>
            <a:r>
              <a:rPr dirty="0"/>
              <a:t>— </a:t>
            </a:r>
            <a:r>
              <a:rPr dirty="0" err="1"/>
              <a:t>Degrau</a:t>
            </a:r>
            <a:r>
              <a:rPr dirty="0"/>
              <a:t> de Carga a 50% da </a:t>
            </a:r>
            <a:r>
              <a:rPr dirty="0" err="1"/>
              <a:t>Velocidade</a:t>
            </a:r>
            <a:r>
              <a:rPr dirty="0"/>
              <a:t> (30 Hz)</a:t>
            </a:r>
          </a:p>
        </p:txBody>
      </p:sp>
      <p:pic>
        <p:nvPicPr>
          <p:cNvPr id="4" name="Picture 3" descr="01_conjugados_tempo.png"/>
          <p:cNvPicPr>
            <a:picLocks noChangeAspect="1"/>
          </p:cNvPicPr>
          <p:nvPr/>
        </p:nvPicPr>
        <p:blipFill>
          <a:blip r:embed="rId2"/>
          <a:srcRect t="3712" b="-1"/>
          <a:stretch>
            <a:fillRect/>
          </a:stretch>
        </p:blipFill>
        <p:spPr>
          <a:xfrm>
            <a:off x="251999" y="917998"/>
            <a:ext cx="4752000" cy="3268287"/>
          </a:xfrm>
          <a:prstGeom prst="rect">
            <a:avLst/>
          </a:prstGeom>
        </p:spPr>
      </p:pic>
      <p:pic>
        <p:nvPicPr>
          <p:cNvPr id="5" name="Picture 4" descr="02_velocidade_tempo.png"/>
          <p:cNvPicPr>
            <a:picLocks noChangeAspect="1"/>
          </p:cNvPicPr>
          <p:nvPr/>
        </p:nvPicPr>
        <p:blipFill>
          <a:blip r:embed="rId3"/>
          <a:srcRect t="3712"/>
          <a:stretch>
            <a:fillRect/>
          </a:stretch>
        </p:blipFill>
        <p:spPr>
          <a:xfrm>
            <a:off x="5076000" y="917998"/>
            <a:ext cx="4752000" cy="3268288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9257870"/>
              </p:ext>
            </p:extLst>
          </p:nvPr>
        </p:nvGraphicFramePr>
        <p:xfrm>
          <a:off x="251999" y="3866732"/>
          <a:ext cx="957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15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5600">
                <a:tc>
                  <a:txBody>
                    <a:bodyPr/>
                    <a:lstStyle/>
                    <a:p>
                      <a:pPr marL="0" algn="l" defTabSz="457200" rtl="0" eaLnBrk="1" latinLnBrk="0" hangingPunct="1"/>
                      <a:r>
                        <a:rPr sz="900" b="1" kern="1200" dirty="0" err="1">
                          <a:solidFill>
                            <a:schemeClr val="lt1"/>
                          </a:solidFill>
                          <a:latin typeface="Arial"/>
                          <a:ea typeface="+mn-ea"/>
                          <a:cs typeface="+mn-cs"/>
                        </a:rPr>
                        <a:t>Ensaio</a:t>
                      </a:r>
                      <a:endParaRPr sz="900" b="1" kern="1200" dirty="0">
                        <a:solidFill>
                          <a:schemeClr val="lt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 dirty="0" err="1">
                          <a:latin typeface="Arial"/>
                        </a:rPr>
                        <a:t>Cenário</a:t>
                      </a:r>
                      <a:endParaRPr sz="900" b="1" dirty="0">
                        <a:latin typeface="Arial"/>
                      </a:endParaRP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Arial"/>
                        </a:rPr>
                        <a:t>Tempo de </a:t>
                      </a:r>
                      <a:r>
                        <a:rPr sz="900" b="1" dirty="0" err="1">
                          <a:latin typeface="Arial"/>
                        </a:rPr>
                        <a:t>acomodação</a:t>
                      </a:r>
                      <a:r>
                        <a:rPr sz="900" b="1" dirty="0">
                          <a:latin typeface="Arial"/>
                        </a:rPr>
                        <a:t> (s)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latin typeface="Arial"/>
                        </a:rPr>
                        <a:t>Erro de regime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 err="1">
                          <a:latin typeface="Arial"/>
                        </a:rPr>
                        <a:t>Sobressinal</a:t>
                      </a:r>
                      <a:r>
                        <a:rPr sz="900" b="1" dirty="0">
                          <a:latin typeface="Arial"/>
                        </a:rPr>
                        <a:t> (%)</a:t>
                      </a:r>
                    </a:p>
                  </a:txBody>
                  <a:tcPr>
                    <a:solidFill>
                      <a:srgbClr val="0E5C6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 dirty="0" err="1">
                          <a:latin typeface="Arial"/>
                        </a:rPr>
                        <a:t>Degrau</a:t>
                      </a:r>
                      <a:r>
                        <a:rPr sz="850" dirty="0">
                          <a:latin typeface="Arial"/>
                        </a:rPr>
                        <a:t>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0.4979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9.085e-06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-90.23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Torque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-0.007884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V/F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-0.9192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latin typeface="Arial"/>
                        </a:rPr>
                        <a:t>-4.565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5600"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Degrau de carga - Velocidade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>
                          <a:latin typeface="Arial"/>
                        </a:rPr>
                        <a:t>Inversor FOC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>
                          <a:latin typeface="Arial"/>
                        </a:rPr>
                        <a:t>5.61e-07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dirty="0">
                          <a:latin typeface="Arial"/>
                        </a:rPr>
                        <a:t>-0.01588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09  </a:t>
            </a:r>
            <a:r>
              <a:rPr dirty="0" err="1"/>
              <a:t>Ensaio</a:t>
            </a:r>
            <a:r>
              <a:rPr dirty="0"/>
              <a:t> 2 — Motor de Grande Porte </a:t>
            </a:r>
            <a:endParaRPr lang="pt-BR" dirty="0"/>
          </a:p>
          <a:p>
            <a:r>
              <a:rPr dirty="0"/>
              <a:t>— Zoom </a:t>
            </a:r>
            <a:r>
              <a:rPr dirty="0" err="1"/>
              <a:t>na</a:t>
            </a:r>
            <a:r>
              <a:rPr dirty="0"/>
              <a:t> Entrada da Carga (0.5 s antes / 1 s </a:t>
            </a:r>
            <a:r>
              <a:rPr dirty="0" err="1"/>
              <a:t>depois</a:t>
            </a:r>
            <a:r>
              <a:rPr dirty="0"/>
              <a:t>)</a:t>
            </a:r>
          </a:p>
        </p:txBody>
      </p:sp>
      <p:pic>
        <p:nvPicPr>
          <p:cNvPr id="4" name="Picture 3" descr="01_conjugados_tempo_zo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99" y="1198401"/>
            <a:ext cx="4752000" cy="3394286"/>
          </a:xfrm>
          <a:prstGeom prst="rect">
            <a:avLst/>
          </a:prstGeom>
        </p:spPr>
      </p:pic>
      <p:pic>
        <p:nvPicPr>
          <p:cNvPr id="5" name="Picture 4" descr="02_velocidade_tempo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6000" y="1198401"/>
            <a:ext cx="4752000" cy="339428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080000" cy="125999"/>
          </a:xfrm>
          <a:prstGeom prst="rect">
            <a:avLst/>
          </a:prstGeom>
          <a:solidFill>
            <a:srgbClr val="0E5C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251999"/>
            <a:ext cx="93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defRPr sz="2000" b="1">
                <a:solidFill>
                  <a:srgbClr val="0E5C68"/>
                </a:solidFill>
                <a:latin typeface="Arial"/>
              </a:defRPr>
            </a:lvl1pPr>
          </a:lstStyle>
          <a:p>
            <a:r>
              <a:rPr dirty="0"/>
              <a:t>10  </a:t>
            </a:r>
            <a:r>
              <a:rPr lang="pt-BR" dirty="0"/>
              <a:t>Análise </a:t>
            </a:r>
            <a:r>
              <a:rPr dirty="0"/>
              <a:t>e </a:t>
            </a:r>
            <a:r>
              <a:rPr dirty="0" err="1"/>
              <a:t>Próximos</a:t>
            </a:r>
            <a:r>
              <a:rPr dirty="0"/>
              <a:t> Passos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864000"/>
            <a:ext cx="9360000" cy="3503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O FOC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praticamente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elimina</a:t>
            </a:r>
            <a:r>
              <a:rPr sz="1500" dirty="0">
                <a:solidFill>
                  <a:srgbClr val="1A2027"/>
                </a:solidFill>
                <a:latin typeface="Arial"/>
              </a:rPr>
              <a:t> o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desvio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velocidade</a:t>
            </a:r>
            <a:r>
              <a:rPr sz="1500" dirty="0">
                <a:solidFill>
                  <a:srgbClr val="1A2027"/>
                </a:solidFill>
                <a:latin typeface="Arial"/>
              </a:rPr>
              <a:t> sob carga (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erro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regime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próximo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zero)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todos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os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motores</a:t>
            </a:r>
            <a:r>
              <a:rPr sz="1500" dirty="0">
                <a:solidFill>
                  <a:srgbClr val="1A2027"/>
                </a:solidFill>
                <a:latin typeface="Arial"/>
              </a:rPr>
              <a:t> 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condições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testados</a:t>
            </a:r>
            <a:r>
              <a:rPr sz="1500" dirty="0">
                <a:solidFill>
                  <a:srgbClr val="1A2027"/>
                </a:solidFill>
                <a:latin typeface="Arial"/>
              </a:rPr>
              <a:t>; o V/F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apresenta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desvio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permanente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por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escorregamento</a:t>
            </a:r>
            <a:r>
              <a:rPr sz="1500" dirty="0">
                <a:solidFill>
                  <a:srgbClr val="1A2027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No motor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pequeno</a:t>
            </a:r>
            <a:r>
              <a:rPr sz="1500" dirty="0">
                <a:solidFill>
                  <a:srgbClr val="1A2027"/>
                </a:solidFill>
                <a:latin typeface="Arial"/>
              </a:rPr>
              <a:t> e no motor grande a 30 Hz, o FOC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também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acomoda</a:t>
            </a:r>
            <a:r>
              <a:rPr sz="1500" dirty="0">
                <a:solidFill>
                  <a:srgbClr val="1A2027"/>
                </a:solidFill>
                <a:latin typeface="Arial"/>
              </a:rPr>
              <a:t> o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conjugado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bem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mais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rápido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que</a:t>
            </a:r>
            <a:r>
              <a:rPr sz="1500" dirty="0">
                <a:solidFill>
                  <a:srgbClr val="1A2027"/>
                </a:solidFill>
                <a:latin typeface="Arial"/>
              </a:rPr>
              <a:t> o V/F.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No motor grande à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velocidade</a:t>
            </a:r>
            <a:r>
              <a:rPr sz="1500" dirty="0">
                <a:solidFill>
                  <a:srgbClr val="1A2027"/>
                </a:solidFill>
                <a:latin typeface="Arial"/>
              </a:rPr>
              <a:t> nominal (60 Hz),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porém</a:t>
            </a:r>
            <a:r>
              <a:rPr sz="1500" dirty="0">
                <a:solidFill>
                  <a:srgbClr val="1A2027"/>
                </a:solidFill>
                <a:latin typeface="Arial"/>
              </a:rPr>
              <a:t>, o FOC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acomoda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bem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mais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devagar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que</a:t>
            </a:r>
            <a:r>
              <a:rPr sz="1500" dirty="0">
                <a:solidFill>
                  <a:srgbClr val="1A2027"/>
                </a:solidFill>
                <a:latin typeface="Arial"/>
              </a:rPr>
              <a:t> o V/F (~5,2 s contra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frações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segundo</a:t>
            </a:r>
            <a:r>
              <a:rPr sz="1500" dirty="0">
                <a:solidFill>
                  <a:srgbClr val="1A2027"/>
                </a:solidFill>
                <a:latin typeface="Arial"/>
              </a:rPr>
              <a:t>) e com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sobressinal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elevado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— a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sintonia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automática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que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funciona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bem</a:t>
            </a:r>
            <a:r>
              <a:rPr sz="1500" dirty="0">
                <a:solidFill>
                  <a:srgbClr val="1A2027"/>
                </a:solidFill>
                <a:latin typeface="Arial"/>
              </a:rPr>
              <a:t> a 30 Hz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não</a:t>
            </a:r>
            <a:r>
              <a:rPr sz="1500" dirty="0">
                <a:solidFill>
                  <a:srgbClr val="1A2027"/>
                </a:solidFill>
                <a:latin typeface="Arial"/>
              </a:rPr>
              <a:t> se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sustenta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nessa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condição</a:t>
            </a:r>
            <a:r>
              <a:rPr sz="1500" dirty="0">
                <a:solidFill>
                  <a:srgbClr val="1A2027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O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desvio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do V/F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cresce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proporcionalmente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quando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a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referência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frequência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cai</a:t>
            </a:r>
            <a:r>
              <a:rPr sz="1500" dirty="0">
                <a:solidFill>
                  <a:srgbClr val="1A2027"/>
                </a:solidFill>
                <a:latin typeface="Arial"/>
              </a:rPr>
              <a:t> (visto a 30 Hz, 50% da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velocidade</a:t>
            </a:r>
            <a:r>
              <a:rPr sz="1500" dirty="0">
                <a:solidFill>
                  <a:srgbClr val="1A2027"/>
                </a:solidFill>
                <a:latin typeface="Arial"/>
              </a:rPr>
              <a:t> nominal) —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comportamento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esperado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dos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acionamentos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escalares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em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malha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aberta</a:t>
            </a:r>
            <a:r>
              <a:rPr sz="1500" dirty="0">
                <a:solidFill>
                  <a:srgbClr val="1A2027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Nenhum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ganho</a:t>
            </a:r>
            <a:r>
              <a:rPr sz="1500" dirty="0">
                <a:solidFill>
                  <a:srgbClr val="1A2027"/>
                </a:solidFill>
                <a:latin typeface="Arial"/>
              </a:rPr>
              <a:t> de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controlador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foi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copiado</a:t>
            </a:r>
            <a:r>
              <a:rPr sz="1500" dirty="0">
                <a:solidFill>
                  <a:srgbClr val="1A2027"/>
                </a:solidFill>
                <a:latin typeface="Arial"/>
              </a:rPr>
              <a:t> entre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motores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ou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cenários</a:t>
            </a:r>
            <a:r>
              <a:rPr sz="1500" dirty="0">
                <a:solidFill>
                  <a:srgbClr val="1A2027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cada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acionamento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usa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sua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própria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sintonia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calculada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automaticamente</a:t>
            </a:r>
            <a:r>
              <a:rPr sz="1500" dirty="0">
                <a:solidFill>
                  <a:srgbClr val="1A2027"/>
                </a:solidFill>
                <a:latin typeface="Arial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500" dirty="0">
                <a:solidFill>
                  <a:srgbClr val="1A2027"/>
                </a:solidFill>
                <a:latin typeface="Arial"/>
              </a:rPr>
              <a:t>• 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Próximos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passos</a:t>
            </a:r>
            <a:r>
              <a:rPr sz="1500" dirty="0">
                <a:solidFill>
                  <a:srgbClr val="1A2027"/>
                </a:solidFill>
                <a:latin typeface="Arial"/>
              </a:rPr>
              <a:t>: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revisar</a:t>
            </a:r>
            <a:r>
              <a:rPr sz="1500" dirty="0">
                <a:solidFill>
                  <a:srgbClr val="1A2027"/>
                </a:solidFill>
                <a:latin typeface="Arial"/>
              </a:rPr>
              <a:t>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manualmente</a:t>
            </a:r>
            <a:r>
              <a:rPr sz="1500" dirty="0">
                <a:solidFill>
                  <a:srgbClr val="1A2027"/>
                </a:solidFill>
                <a:latin typeface="Arial"/>
              </a:rPr>
              <a:t> a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sintonia</a:t>
            </a:r>
            <a:r>
              <a:rPr sz="1500" dirty="0">
                <a:solidFill>
                  <a:srgbClr val="1A2027"/>
                </a:solidFill>
                <a:latin typeface="Arial"/>
              </a:rPr>
              <a:t> do FOC no motor grande à </a:t>
            </a:r>
            <a:r>
              <a:rPr sz="1500" dirty="0" err="1">
                <a:solidFill>
                  <a:srgbClr val="1A2027"/>
                </a:solidFill>
                <a:latin typeface="Arial"/>
              </a:rPr>
              <a:t>velocidade</a:t>
            </a:r>
            <a:r>
              <a:rPr sz="1500" dirty="0">
                <a:solidFill>
                  <a:srgbClr val="1A2027"/>
                </a:solidFill>
                <a:latin typeface="Arial"/>
              </a:rPr>
              <a:t> nominal</a:t>
            </a:r>
            <a:r>
              <a:rPr lang="pt-BR" sz="1500" dirty="0">
                <a:solidFill>
                  <a:srgbClr val="1A2027"/>
                </a:solidFill>
                <a:latin typeface="Arial"/>
              </a:rPr>
              <a:t>.</a:t>
            </a:r>
            <a:endParaRPr sz="1500" dirty="0">
              <a:solidFill>
                <a:srgbClr val="1A2027"/>
              </a:solidFill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334</TotalTime>
  <Words>717</Words>
  <Application>Microsoft Office PowerPoint</Application>
  <PresentationFormat>Personalizar</PresentationFormat>
  <Paragraphs>143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Bruno G G L Zambolini Vicente</cp:lastModifiedBy>
  <cp:revision>4</cp:revision>
  <dcterms:created xsi:type="dcterms:W3CDTF">2013-01-27T09:14:16Z</dcterms:created>
  <dcterms:modified xsi:type="dcterms:W3CDTF">2026-09-25T00:17:18Z</dcterms:modified>
  <cp:category/>
</cp:coreProperties>
</file>