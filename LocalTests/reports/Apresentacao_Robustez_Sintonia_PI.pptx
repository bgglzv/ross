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0080000" cy="567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image" Target="../media/image7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image" Target="../media/image1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Relationship Id="rId3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01  </a:t>
            </a:r>
            <a:r>
              <a:rPr sz="2600" b="1">
                <a:solidFill>
                  <a:srgbClr val="0E5C68"/>
                </a:solidFill>
                <a:latin typeface="Arial"/>
              </a:rPr>
              <a:t>Robustez da Sintonia PI — Objetivo e Condições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827999"/>
            <a:ext cx="9360000" cy="79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5B6672"/>
                </a:solidFill>
                <a:latin typeface="Arial"/>
              </a:rPr>
              <a:t>Comparação entre acionamento V/F e FOC (cada um com sua própria sintonia de controlador, sem reajuste manual) sob degrau de carga, em dois motores de porte muito diferente.</a:t>
            </a:r>
          </a:p>
        </p:txBody>
      </p:sp>
      <p:pic>
        <p:nvPicPr>
          <p:cNvPr id="5" name="Picture 4" descr="diagram_malha_contro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0000" y="1655999"/>
            <a:ext cx="9360000" cy="3512147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02  </a:t>
            </a:r>
            <a:r>
              <a:rPr sz="2600" b="1">
                <a:solidFill>
                  <a:srgbClr val="0E5C68"/>
                </a:solidFill>
                <a:latin typeface="Arial"/>
              </a:rPr>
              <a:t>Ensaio 1 — Motor de Pequeno Porte — Degrau de Carga (60 Hz)</a:t>
            </a:r>
          </a:p>
        </p:txBody>
      </p:sp>
      <p:pic>
        <p:nvPicPr>
          <p:cNvPr id="4" name="Picture 3" descr="01_conjugados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792000"/>
            <a:ext cx="4752000" cy="3394286"/>
          </a:xfrm>
          <a:prstGeom prst="rect">
            <a:avLst/>
          </a:prstGeom>
        </p:spPr>
      </p:pic>
      <p:pic>
        <p:nvPicPr>
          <p:cNvPr id="5" name="Picture 4" descr="02_velocidade_tem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792000"/>
            <a:ext cx="4752000" cy="339428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1999" y="3671999"/>
          <a:ext cx="9576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5200"/>
                <a:gridCol w="1915200"/>
                <a:gridCol w="1915200"/>
                <a:gridCol w="1915200"/>
                <a:gridCol w="1915200"/>
              </a:tblGrid>
              <a:tr h="246857"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Ensaio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Cenário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Tempo de acomodação (s)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Erro de regime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Sobressinal (%)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Fonte CA (partida direta)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0.14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-3.827e-09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-92.45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V/F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0.1398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5.567e-05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-92.78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FOC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0.5829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0.002777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-135.6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Fonte CA (partida direta)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-10.12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-5.371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V/F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-10.11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-5.363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8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FOC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0.1971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1.637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-10.96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03  </a:t>
            </a:r>
            <a:r>
              <a:rPr sz="2600" b="1">
                <a:solidFill>
                  <a:srgbClr val="0E5C68"/>
                </a:solidFill>
                <a:latin typeface="Arial"/>
              </a:rPr>
              <a:t>Ensaio 1 — Motor de Pequeno Porte — Zoom na Entrada da Carga (0.1 s antes / 0.2 s depois)</a:t>
            </a:r>
          </a:p>
        </p:txBody>
      </p:sp>
      <p:pic>
        <p:nvPicPr>
          <p:cNvPr id="4" name="Picture 3" descr="01_conjugados_tempo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792000"/>
            <a:ext cx="4752000" cy="3394286"/>
          </a:xfrm>
          <a:prstGeom prst="rect">
            <a:avLst/>
          </a:prstGeom>
        </p:spPr>
      </p:pic>
      <p:pic>
        <p:nvPicPr>
          <p:cNvPr id="5" name="Picture 4" descr="02_velocidade_tempo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792000"/>
            <a:ext cx="4752000" cy="3394286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04  </a:t>
            </a:r>
            <a:r>
              <a:rPr sz="2600" b="1">
                <a:solidFill>
                  <a:srgbClr val="0E5C68"/>
                </a:solidFill>
                <a:latin typeface="Arial"/>
              </a:rPr>
              <a:t>Ensaio 1 — Motor de Grande Porte — Degrau de Carga (60 Hz)</a:t>
            </a:r>
          </a:p>
        </p:txBody>
      </p:sp>
      <p:pic>
        <p:nvPicPr>
          <p:cNvPr id="4" name="Picture 3" descr="01_conjugados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792000"/>
            <a:ext cx="4752000" cy="3394286"/>
          </a:xfrm>
          <a:prstGeom prst="rect">
            <a:avLst/>
          </a:prstGeom>
        </p:spPr>
      </p:pic>
      <p:pic>
        <p:nvPicPr>
          <p:cNvPr id="5" name="Picture 4" descr="02_velocidade_tem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792000"/>
            <a:ext cx="4752000" cy="339428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1999" y="3671999"/>
          <a:ext cx="9576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5200"/>
                <a:gridCol w="1915200"/>
                <a:gridCol w="1915200"/>
                <a:gridCol w="1915200"/>
                <a:gridCol w="1915200"/>
              </a:tblGrid>
              <a:tr h="246857"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Ensaio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Cenário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Tempo de acomodação (s)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Erro de regime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Sobressinal (%)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Fonte CA (partida direta)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0.4346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2.183e-11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-89.98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V/F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0.4342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0.1286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-89.99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FOC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5.26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0.01519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-250.6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Fonte CA (partida direta)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-0.9152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-2.271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7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V/F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-0.9138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-2.267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246858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FOC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5.128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0.6984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-65.63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05  </a:t>
            </a:r>
            <a:r>
              <a:rPr sz="2600" b="1">
                <a:solidFill>
                  <a:srgbClr val="0E5C68"/>
                </a:solidFill>
                <a:latin typeface="Arial"/>
              </a:rPr>
              <a:t>Ensaio 1 — Motor de Grande Porte — Zoom na Entrada da Carga (0.5 s antes / 1 s depois)</a:t>
            </a:r>
          </a:p>
        </p:txBody>
      </p:sp>
      <p:pic>
        <p:nvPicPr>
          <p:cNvPr id="4" name="Picture 3" descr="01_conjugados_tempo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792000"/>
            <a:ext cx="4752000" cy="3394286"/>
          </a:xfrm>
          <a:prstGeom prst="rect">
            <a:avLst/>
          </a:prstGeom>
        </p:spPr>
      </p:pic>
      <p:pic>
        <p:nvPicPr>
          <p:cNvPr id="5" name="Picture 4" descr="02_velocidade_tempo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792000"/>
            <a:ext cx="4752000" cy="3394286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06  </a:t>
            </a:r>
            <a:r>
              <a:rPr sz="2600" b="1">
                <a:solidFill>
                  <a:srgbClr val="0E5C68"/>
                </a:solidFill>
                <a:latin typeface="Arial"/>
              </a:rPr>
              <a:t>Ensaio 2 — Motor de Pequeno Porte — Degrau de Carga a 50% da Velocidade (30 Hz)</a:t>
            </a:r>
          </a:p>
        </p:txBody>
      </p:sp>
      <p:pic>
        <p:nvPicPr>
          <p:cNvPr id="4" name="Picture 3" descr="01_conjugados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792000"/>
            <a:ext cx="4752000" cy="3394286"/>
          </a:xfrm>
          <a:prstGeom prst="rect">
            <a:avLst/>
          </a:prstGeom>
        </p:spPr>
      </p:pic>
      <p:pic>
        <p:nvPicPr>
          <p:cNvPr id="5" name="Picture 4" descr="02_velocidade_tem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792000"/>
            <a:ext cx="4752000" cy="339428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1999" y="3671999"/>
          <a:ext cx="9576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5200"/>
                <a:gridCol w="1915200"/>
                <a:gridCol w="1915200"/>
                <a:gridCol w="1915200"/>
                <a:gridCol w="1915200"/>
              </a:tblGrid>
              <a:tr h="345600"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Ensaio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Cenário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Tempo de acomodação (s)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Erro de regime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Sobressinal (%)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</a:tr>
              <a:tr h="345600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V/F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0.1753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0.002497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-93.83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FOC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0.02026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0.001049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-50.57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V/F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infinito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-12.23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-12.98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FOC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-0.007124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-0.05042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07  </a:t>
            </a:r>
            <a:r>
              <a:rPr sz="2600" b="1">
                <a:solidFill>
                  <a:srgbClr val="0E5C68"/>
                </a:solidFill>
                <a:latin typeface="Arial"/>
              </a:rPr>
              <a:t>Ensaio 2 — Motor de Pequeno Porte — Zoom na Entrada da Carga (0.1 s antes / 0.2 s depois)</a:t>
            </a:r>
          </a:p>
        </p:txBody>
      </p:sp>
      <p:pic>
        <p:nvPicPr>
          <p:cNvPr id="4" name="Picture 3" descr="01_conjugados_tempo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792000"/>
            <a:ext cx="4752000" cy="3394286"/>
          </a:xfrm>
          <a:prstGeom prst="rect">
            <a:avLst/>
          </a:prstGeom>
        </p:spPr>
      </p:pic>
      <p:pic>
        <p:nvPicPr>
          <p:cNvPr id="5" name="Picture 4" descr="02_velocidade_tempo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792000"/>
            <a:ext cx="4752000" cy="3394286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08  </a:t>
            </a:r>
            <a:r>
              <a:rPr sz="2600" b="1">
                <a:solidFill>
                  <a:srgbClr val="0E5C68"/>
                </a:solidFill>
                <a:latin typeface="Arial"/>
              </a:rPr>
              <a:t>Ensaio 2 — Motor de Grande Porte — Degrau de Carga a 50% da Velocidade (30 Hz)</a:t>
            </a:r>
          </a:p>
        </p:txBody>
      </p:sp>
      <p:pic>
        <p:nvPicPr>
          <p:cNvPr id="4" name="Picture 3" descr="01_conjugados_temp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792000"/>
            <a:ext cx="4752000" cy="3394286"/>
          </a:xfrm>
          <a:prstGeom prst="rect">
            <a:avLst/>
          </a:prstGeom>
        </p:spPr>
      </p:pic>
      <p:pic>
        <p:nvPicPr>
          <p:cNvPr id="5" name="Picture 4" descr="02_velocidade_temp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792000"/>
            <a:ext cx="4752000" cy="3394286"/>
          </a:xfrm>
          <a:prstGeom prst="rect">
            <a:avLst/>
          </a:prstGeom>
        </p:spPr>
      </p:pic>
      <p:graphicFrame>
        <p:nvGraphicFramePr>
          <p:cNvPr id="6" name="Table 5"/>
          <p:cNvGraphicFramePr>
            <a:graphicFrameLocks noGrp="1"/>
          </p:cNvGraphicFramePr>
          <p:nvPr/>
        </p:nvGraphicFramePr>
        <p:xfrm>
          <a:off x="251999" y="3671999"/>
          <a:ext cx="9576000" cy="1728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5200"/>
                <a:gridCol w="1915200"/>
                <a:gridCol w="1915200"/>
                <a:gridCol w="1915200"/>
                <a:gridCol w="1915200"/>
              </a:tblGrid>
              <a:tr h="345600"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Ensaio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Cenário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Tempo de acomodação (s)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Erro de regime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900" b="1">
                          <a:latin typeface="Arial"/>
                        </a:rPr>
                        <a:t>Sobressinal (%)</a:t>
                      </a:r>
                    </a:p>
                  </a:txBody>
                  <a:tcPr>
                    <a:solidFill>
                      <a:srgbClr val="E3EEF0"/>
                    </a:solidFill>
                  </a:tcPr>
                </a:tc>
              </a:tr>
              <a:tr h="345600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V/F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0.4979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9.085e-06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-90.23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Torque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FOC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0.02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-0.007884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-50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V/F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-0.9192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-4.565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45600"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Degrau de carga - Velocidade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Inversor FOC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0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5.61e-07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850">
                          <a:latin typeface="Arial"/>
                        </a:rPr>
                        <a:t>-0.01588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09  </a:t>
            </a:r>
            <a:r>
              <a:rPr sz="2600" b="1">
                <a:solidFill>
                  <a:srgbClr val="0E5C68"/>
                </a:solidFill>
                <a:latin typeface="Arial"/>
              </a:rPr>
              <a:t>Ensaio 2 — Motor de Grande Porte — Zoom na Entrada da Carga (0.5 s antes / 1 s depois)</a:t>
            </a:r>
          </a:p>
        </p:txBody>
      </p:sp>
      <p:pic>
        <p:nvPicPr>
          <p:cNvPr id="4" name="Picture 3" descr="01_conjugados_tempo_zoo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1999" y="792000"/>
            <a:ext cx="4752000" cy="3394286"/>
          </a:xfrm>
          <a:prstGeom prst="rect">
            <a:avLst/>
          </a:prstGeom>
        </p:spPr>
      </p:pic>
      <p:pic>
        <p:nvPicPr>
          <p:cNvPr id="5" name="Picture 4" descr="02_velocidade_tempo_zo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76000" y="792000"/>
            <a:ext cx="4752000" cy="3394286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0080000" cy="125999"/>
          </a:xfrm>
          <a:prstGeom prst="rect">
            <a:avLst/>
          </a:prstGeom>
          <a:solidFill>
            <a:srgbClr val="0E5C6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0000" y="251999"/>
            <a:ext cx="9360000" cy="54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>
                <a:solidFill>
                  <a:srgbClr val="8A929B"/>
                </a:solidFill>
                <a:latin typeface="Consolas"/>
              </a:rPr>
              <a:t>10  </a:t>
            </a:r>
            <a:r>
              <a:rPr sz="2600" b="1">
                <a:solidFill>
                  <a:srgbClr val="0E5C68"/>
                </a:solidFill>
                <a:latin typeface="Arial"/>
              </a:rPr>
              <a:t>Veredito de Robustez e Próximos Passos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0000" y="864000"/>
            <a:ext cx="9360000" cy="396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0"/>
              </a:spcAft>
            </a:pPr>
            <a:r>
              <a:rPr sz="1500">
                <a:solidFill>
                  <a:srgbClr val="1A2027"/>
                </a:solidFill>
                <a:latin typeface="Arial"/>
              </a:rPr>
              <a:t>•  O FOC praticamente elimina o desvio de velocidade sob carga (erro de regime próximo de zero) em todos os motores e condições testados; o V/F apresenta desvio permanente por escorregamento.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7"/>
                </a:solidFill>
                <a:latin typeface="Arial"/>
              </a:rPr>
              <a:t>•  No motor pequeno e no motor grande a 30 Hz, o FOC também acomoda o conjugado bem mais rápido que o V/F.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7"/>
                </a:solidFill>
                <a:latin typeface="Arial"/>
              </a:rPr>
              <a:t>•  No motor grande à velocidade nominal (60 Hz), porém, o FOC acomoda bem mais devagar que o V/F (~5,2 s contra frações de segundo) e com sobressinal elevado — a sintonia automática que funciona bem a 30 Hz não se sustenta nessa condição.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7"/>
                </a:solidFill>
                <a:latin typeface="Arial"/>
              </a:rPr>
              <a:t>•  O desvio do V/F cresce proporcionalmente quando a referência de frequência cai (visto a 30 Hz, 50% da velocidade nominal) — comportamento esperado dos acionamentos escalares em malha aberta.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7"/>
                </a:solidFill>
                <a:latin typeface="Arial"/>
              </a:rPr>
              <a:t>•  Nenhum ganho de controlador foi copiado entre motores ou cenários: cada acionamento usa sua própria sintonia calculada automaticamente.</a:t>
            </a:r>
          </a:p>
          <a:p>
            <a:pPr>
              <a:spcAft>
                <a:spcPts val="1000"/>
              </a:spcAft>
            </a:pPr>
            <a:r>
              <a:rPr sz="1500">
                <a:solidFill>
                  <a:srgbClr val="1A2027"/>
                </a:solidFill>
                <a:latin typeface="Arial"/>
              </a:rPr>
              <a:t>•  Próximos passos: revisar manualmente a sintonia do FOC no motor grande à velocidade nominal, e repetir a análise com um par de motores de porte semelhante para subsidiar uma decisão real de substituição de equipamento.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