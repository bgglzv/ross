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080000" cy="567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5C68"/>
                </a:solidFill>
                <a:latin typeface="Arial"/>
              </a:rPr>
              <a:t>Teste a 60 Hz — Motor de pequeno porte (1,5 hp)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B6672"/>
                </a:solidFill>
                <a:latin typeface="Arial"/>
              </a:rPr>
              <a:t>Partida direta, inversor V/F e inversor FOC em direção à frequência nominal, seguidos de degrau de carga nominal.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872000"/>
          <a:ext cx="50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</a:tblGrid>
              <a:tr h="270000"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Parâmetro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Valor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Potência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1.12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Tensão nominal de fase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127.0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Frequência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60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Polos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Velocidade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1710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Conjugado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6.25 N·m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Inércia do 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0.0372 kg·m²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Frequência de chaveamento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5000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Rampa de aceleração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0.6667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nominal 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t = 1.5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Tempo total simulado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5C68"/>
                </a:solidFill>
                <a:latin typeface="Arial"/>
              </a:rPr>
              <a:t>Conjugado e velocidade</a:t>
            </a:r>
          </a:p>
        </p:txBody>
      </p:sp>
      <p:pic>
        <p:nvPicPr>
          <p:cNvPr id="4" name="Picture 3" descr="01_conjugados_t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936000"/>
            <a:ext cx="4752000" cy="3394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5C68"/>
                </a:solidFill>
                <a:latin typeface="Arial"/>
              </a:rPr>
              <a:t>Zoom na entrada da carga</a:t>
            </a:r>
          </a:p>
        </p:txBody>
      </p:sp>
      <p:pic>
        <p:nvPicPr>
          <p:cNvPr id="4" name="Picture 3" descr="01_conjugados_tempo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936000"/>
            <a:ext cx="4752000" cy="3394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5C68"/>
                </a:solidFill>
                <a:latin typeface="Arial"/>
              </a:rPr>
              <a:t>Métricas após a entrada da carga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936000"/>
          <a:ext cx="9576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000"/>
                <a:gridCol w="1596000"/>
                <a:gridCol w="1596000"/>
                <a:gridCol w="1596000"/>
                <a:gridCol w="1596000"/>
                <a:gridCol w="1596000"/>
              </a:tblGrid>
              <a:tr h="411428"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Cenário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Evento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Máx. sobressinal (%)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Acomodação ±5% (s)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Tempo de subida (s)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Regime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Conj. — Fonte CA (partida direta)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Conj. — 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+3.5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Conj. — 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+5.1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Vel. — Fonte CA (partida direta)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1703.3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Vel. — 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+0.2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1703.5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32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Vel. — 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1709.1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5C68"/>
                </a:solidFill>
                <a:latin typeface="Arial"/>
              </a:rPr>
              <a:t>Fonte CA (partida direta) — após a entrada da carga</a:t>
            </a:r>
          </a:p>
        </p:txBody>
      </p:sp>
      <p:pic>
        <p:nvPicPr>
          <p:cNvPr id="4" name="Picture 3" descr="fonte_ca_partida_direta_conjugado_carga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4752000" cy="2946240"/>
          </a:xfrm>
          <a:prstGeom prst="rect">
            <a:avLst/>
          </a:prstGeom>
        </p:spPr>
      </p:pic>
      <p:pic>
        <p:nvPicPr>
          <p:cNvPr id="5" name="Picture 4" descr="fonte_ca_partida_direta_velocidade_carga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936000"/>
            <a:ext cx="4752000" cy="294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5C68"/>
                </a:solidFill>
                <a:latin typeface="Arial"/>
              </a:rPr>
              <a:t>Inversor V/F — após a entrada da carga</a:t>
            </a:r>
          </a:p>
        </p:txBody>
      </p:sp>
      <p:pic>
        <p:nvPicPr>
          <p:cNvPr id="4" name="Picture 3" descr="inversor_v_f_conjugado_carga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4752000" cy="2946240"/>
          </a:xfrm>
          <a:prstGeom prst="rect">
            <a:avLst/>
          </a:prstGeom>
        </p:spPr>
      </p:pic>
      <p:pic>
        <p:nvPicPr>
          <p:cNvPr id="5" name="Picture 4" descr="inversor_v_f_velocidade_carga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936000"/>
            <a:ext cx="4752000" cy="294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5C68"/>
                </a:solidFill>
                <a:latin typeface="Arial"/>
              </a:rPr>
              <a:t>Inversor FOC — após a entrada da carga</a:t>
            </a:r>
          </a:p>
        </p:txBody>
      </p:sp>
      <p:pic>
        <p:nvPicPr>
          <p:cNvPr id="4" name="Picture 3" descr="inversor_foc_conjugado_carga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4752000" cy="2946240"/>
          </a:xfrm>
          <a:prstGeom prst="rect">
            <a:avLst/>
          </a:prstGeom>
        </p:spPr>
      </p:pic>
      <p:pic>
        <p:nvPicPr>
          <p:cNvPr id="5" name="Picture 4" descr="inversor_foc_velocidade_carga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936000"/>
            <a:ext cx="4752000" cy="294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